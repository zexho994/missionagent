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491e24e9624726" /><Relationship Type="http://schemas.openxmlformats.org/officeDocument/2006/relationships/extended-properties" Target="/docProps/app.xml" Id="R566cdf8789274c49" /><Relationship Type="http://schemas.openxmlformats.org/officeDocument/2006/relationships/officeDocument" Target="/ppt/presentation.xml" Id="Re95c34d3ba9c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5a4763e1a941b8"/>
  </p:sldMasterIdLst>
  <p:notesMasterIdLst>
    <p:notesMasterId xmlns:r="http://schemas.openxmlformats.org/officeDocument/2006/relationships" r:id="Raf0e565d9d7d4282"/>
  </p:notesMasterIdLst>
  <p:sldIdLst>
    <p:sldId xmlns:r="http://schemas.openxmlformats.org/officeDocument/2006/relationships" id="256" r:id="R01777b2e86d4400e"/>
    <p:sldId xmlns:r="http://schemas.openxmlformats.org/officeDocument/2006/relationships" id="257" r:id="R0089e448d7c44a65"/>
    <p:sldId xmlns:r="http://schemas.openxmlformats.org/officeDocument/2006/relationships" id="258" r:id="R59a0fb1031574e9c"/>
    <p:sldId xmlns:r="http://schemas.openxmlformats.org/officeDocument/2006/relationships" id="259" r:id="Rfc8cfd2abea944d8"/>
    <p:sldId xmlns:r="http://schemas.openxmlformats.org/officeDocument/2006/relationships" id="260" r:id="R50086ba6bd52496c"/>
    <p:sldId xmlns:r="http://schemas.openxmlformats.org/officeDocument/2006/relationships" id="261" r:id="R9a4adeed0538466b"/>
    <p:sldId xmlns:r="http://schemas.openxmlformats.org/officeDocument/2006/relationships" id="262" r:id="R51dee8a681684079"/>
    <p:sldId xmlns:r="http://schemas.openxmlformats.org/officeDocument/2006/relationships" id="263" r:id="Rcd9d29ca58a940b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a4763e1a941b8" /><Relationship Type="http://schemas.openxmlformats.org/officeDocument/2006/relationships/theme" Target="/ppt/theme/theme1.xml" Id="R31d67781a7764686" /><Relationship Type="http://schemas.openxmlformats.org/officeDocument/2006/relationships/notesMaster" Target="/ppt/notesMasters/notesMaster1.xml" Id="Raf0e565d9d7d4282" /><Relationship Type="http://schemas.openxmlformats.org/officeDocument/2006/relationships/presProps" Target="/ppt/presProps.xml" Id="R1d31c1cd813d41d1" /><Relationship Type="http://schemas.openxmlformats.org/officeDocument/2006/relationships/viewProps" Target="/ppt/viewProps.xml" Id="Rb349fd58fd214c9f" /><Relationship Type="http://schemas.openxmlformats.org/officeDocument/2006/relationships/tableStyles" Target="/ppt/tableStyles.xml" Id="Rfbf9a59be80e424c" /><Relationship Type="http://schemas.openxmlformats.org/officeDocument/2006/relationships/slide" Target="/ppt/slides/slide1.xml" Id="R01777b2e86d4400e" /><Relationship Type="http://schemas.openxmlformats.org/officeDocument/2006/relationships/slide" Target="/ppt/slides/slide2.xml" Id="R0089e448d7c44a65" /><Relationship Type="http://schemas.openxmlformats.org/officeDocument/2006/relationships/slide" Target="/ppt/slides/slide3.xml" Id="R59a0fb1031574e9c" /><Relationship Type="http://schemas.openxmlformats.org/officeDocument/2006/relationships/slide" Target="/ppt/slides/slide4.xml" Id="Rfc8cfd2abea944d8" /><Relationship Type="http://schemas.openxmlformats.org/officeDocument/2006/relationships/slide" Target="/ppt/slides/slide5.xml" Id="R50086ba6bd52496c" /><Relationship Type="http://schemas.openxmlformats.org/officeDocument/2006/relationships/slide" Target="/ppt/slides/slide6.xml" Id="R9a4adeed0538466b" /><Relationship Type="http://schemas.openxmlformats.org/officeDocument/2006/relationships/slide" Target="/ppt/slides/slide7.xml" Id="R51dee8a681684079" /><Relationship Type="http://schemas.openxmlformats.org/officeDocument/2006/relationships/slide" Target="/ppt/slides/slide8.xml" Id="Rcd9d29ca58a940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b5fc8b7989e4d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218acf87aa4e9b" /><Relationship Type="http://schemas.openxmlformats.org/officeDocument/2006/relationships/notesMaster" Target="/ppt/notesMasters/notesMaster1.xml" Id="R4cf7848b341346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86c19f3cf42af" /><Relationship Type="http://schemas.openxmlformats.org/officeDocument/2006/relationships/notesMaster" Target="/ppt/notesMasters/notesMaster1.xml" Id="Rada38958683a4b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c437181284875" /><Relationship Type="http://schemas.openxmlformats.org/officeDocument/2006/relationships/notesMaster" Target="/ppt/notesMasters/notesMaster1.xml" Id="Rfebeb7aeb118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b9186b82be4e1a" /><Relationship Type="http://schemas.openxmlformats.org/officeDocument/2006/relationships/notesMaster" Target="/ppt/notesMasters/notesMaster1.xml" Id="R15fe2940f1e140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9a0ddbf47945ed" /><Relationship Type="http://schemas.openxmlformats.org/officeDocument/2006/relationships/notesMaster" Target="/ppt/notesMasters/notesMaster1.xml" Id="Rf0673a18770f4a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9d3585b23b467d" /><Relationship Type="http://schemas.openxmlformats.org/officeDocument/2006/relationships/notesMaster" Target="/ppt/notesMasters/notesMaster1.xml" Id="R0d9bc8b403fc44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5bae6a190e465f" /><Relationship Type="http://schemas.openxmlformats.org/officeDocument/2006/relationships/notesMaster" Target="/ppt/notesMasters/notesMaster1.xml" Id="Re0e53a5f3c0a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8863bfdcd84dca" /><Relationship Type="http://schemas.openxmlformats.org/officeDocument/2006/relationships/notesMaster" Target="/ppt/notesMasters/notesMaster1.xml" Id="Rf982b71b1fd7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22baa8b5848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6c8d813d4d42d1" /><Relationship Type="http://schemas.openxmlformats.org/officeDocument/2006/relationships/slideLayout" Target="/ppt/slideLayouts/slideLayout2.xml" Id="R329c9cd259b1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c9cd259b1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ab59d8aa614fab" /><Relationship Type="http://schemas.openxmlformats.org/officeDocument/2006/relationships/notesSlide" Target="/ppt/notesSlides/notesSlide1.xml" Id="Rb9b46d024359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98dcbb4bc4fab" /><Relationship Type="http://schemas.openxmlformats.org/officeDocument/2006/relationships/notesSlide" Target="/ppt/notesSlides/notesSlide2.xml" Id="Re67da3c93ff644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fcddd26724057" /><Relationship Type="http://schemas.openxmlformats.org/officeDocument/2006/relationships/notesSlide" Target="/ppt/notesSlides/notesSlide3.xml" Id="R3223c50e290044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65cab4b1e4141" /><Relationship Type="http://schemas.openxmlformats.org/officeDocument/2006/relationships/notesSlide" Target="/ppt/notesSlides/notesSlide4.xml" Id="Ra33f14bc4fe84d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37cae5d90f497b" /><Relationship Type="http://schemas.openxmlformats.org/officeDocument/2006/relationships/notesSlide" Target="/ppt/notesSlides/notesSlide5.xml" Id="Rba65f3bb0718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dd8d1f1d6a42a2" /><Relationship Type="http://schemas.openxmlformats.org/officeDocument/2006/relationships/notesSlide" Target="/ppt/notesSlides/notesSlide6.xml" Id="Rc5a8da74b2894a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a9c6ac995f48b8" /><Relationship Type="http://schemas.openxmlformats.org/officeDocument/2006/relationships/notesSlide" Target="/ppt/notesSlides/notesSlide7.xml" Id="R4dc1f3d9a5704d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e9ed69c2b340cd" /><Relationship Type="http://schemas.openxmlformats.org/officeDocument/2006/relationships/notesSlide" Target="/ppt/notesSlides/notesSlide8.xml" Id="Rb0a5845dad0148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04C01D-C702-4A23-8E3C-816B288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D3B5F6B1-A8DE-438A-BC3B-67E5CDE7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0">
            <a:solidFill>
              <a:srgbClr val="2E5EAA"/>
            </a:solidFill>
            <a:prstDash val="solid"/>
          </a:ln>
        </p:spPr>
      </p:sp>
      <p:sp>
        <p:nvSpPr>
          <p:cNvPr id="3" name="cover-top-space">
            <a:extLst xmlns:a="http://schemas.openxmlformats.org/drawingml/2006/main">
              <a:ext uri="{FF2B5EF4-FFF2-40B4-BE49-F238E27FC236}">
                <a16:creationId xmlns:a16="http://schemas.microsoft.com/office/drawing/2014/main" id="{969C2C2B-FBF9-4832-B624-0CF5CCAC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6154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EB2E5C3-FBEB-48F6-B00B-B9BD7D65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615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DigitalAgent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04CE769-6789-4C99-899A-8AABBFC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83058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172033"/>
                </a:solidFill>
              </a:defRPr>
            </a:pPr>
            <a:r>
              <a:rPr sz="6300" b="1">
                <a:solidFill>
                  <a:srgbClr val="172033"/>
                </a:solidFill>
              </a:rPr>
              <a:t>动态组队的 Agent 系统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D8CEC6-AD7D-4716-88D5-82DADCCB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2150"/>
            <a:ext cx="10306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B667A"/>
                </a:solidFill>
              </a:defRPr>
            </a:pPr>
            <a:r>
              <a:rPr sz="2550">
                <a:solidFill>
                  <a:srgbClr val="5B667A"/>
                </a:solidFill>
              </a:rPr>
              <a:t>核心共识：我们做自己的大脑，用 OpenClaw 执行外部动作，参考 Edict 的组织方式。</a:t>
            </a:r>
          </a:p>
        </p:txBody>
      </p:sp>
      <p:sp>
        <p:nvSpPr>
          <p:cNvPr id="7" name="cover-bottom-space">
            <a:extLst xmlns:a="http://schemas.openxmlformats.org/drawingml/2006/main">
              <a:ext uri="{FF2B5EF4-FFF2-40B4-BE49-F238E27FC236}">
                <a16:creationId xmlns:a16="http://schemas.microsoft.com/office/drawing/2014/main" id="{BAD7F609-E177-4A4C-8FB3-80C247B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29400"/>
            <a:ext cx="161544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F7B70104-32D2-4310-82F5-26DD09D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77350"/>
            <a:ext cx="16154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67A"/>
                </a:solidFill>
              </a:defRPr>
            </a:pPr>
            <a:r>
              <a:rPr sz="1650">
                <a:solidFill>
                  <a:srgbClr val="5B667A"/>
                </a:solidFill>
              </a:rPr>
              <a:t>简版设计说明 · 2026-04-27</a:t>
            </a:r>
          </a:p>
        </p:txBody>
      </p:sp>
    </p:spTree>
    <p:extLst>
      <p:ext uri="{BB962C8B-B14F-4D97-AF65-F5344CB8AC3E}">
        <p14:creationId xmlns:p14="http://schemas.microsoft.com/office/powerpoint/2010/main" val="1316883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3D7A42D-91D3-4ED5-BC6D-586A6472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6E24EBD7-9139-478E-9E78-A1C85842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7D1B18-ACD2-4ECB-8CE3-91EC34C6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3238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一句话定义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2381D8-B622-49D4-B7A7-6DDA97C9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826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不是固定流程机器人，而是会为每个目标临时组队的协作系统。</a:t>
            </a:r>
          </a:p>
        </p:txBody>
      </p:sp>
      <p:sp>
        <p:nvSpPr>
          <p:cNvPr id="5" name="definition-top-space">
            <a:extLst xmlns:a="http://schemas.openxmlformats.org/drawingml/2006/main">
              <a:ext uri="{FF2B5EF4-FFF2-40B4-BE49-F238E27FC236}">
                <a16:creationId xmlns:a16="http://schemas.microsoft.com/office/drawing/2014/main" id="{5018069B-9369-4F29-86F5-5776209C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61544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efinition">
            <a:extLst xmlns:a="http://schemas.openxmlformats.org/drawingml/2006/main">
              <a:ext uri="{FF2B5EF4-FFF2-40B4-BE49-F238E27FC236}">
                <a16:creationId xmlns:a16="http://schemas.microsoft.com/office/drawing/2014/main" id="{A032EA55-E4FA-4028-8D99-E791C1A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12287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3375">
                <a:solidFill>
                  <a:srgbClr val="172033"/>
                </a:solidFill>
              </a:defRPr>
            </a:pPr>
            <a:r>
              <a:rPr sz="3375">
                <a:solidFill>
                  <a:srgbClr val="172033"/>
                </a:solidFill>
              </a:rPr>
              <a:t>用户给出目标，系统任命负责人。负责人判断团队结构，HR 创建 subagents。团队持续产出、审核、复盘、调整。</a:t>
            </a:r>
          </a:p>
        </p:txBody>
      </p:sp>
      <p:sp>
        <p:nvSpPr>
          <p:cNvPr id="7" name="definition-bottom-space">
            <a:extLst xmlns:a="http://schemas.openxmlformats.org/drawingml/2006/main">
              <a:ext uri="{FF2B5EF4-FFF2-40B4-BE49-F238E27FC236}">
                <a16:creationId xmlns:a16="http://schemas.microsoft.com/office/drawing/2014/main" id="{469E4DF5-2D16-431C-9A09-4D13DF8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705600"/>
            <a:ext cx="161544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09353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36EB16B-CCA4-4316-A49E-D065BCA3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6C9228-EC1D-4F36-9028-BF02982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2590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三个边界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090177-7D8B-4A41-9E38-501FCE2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43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边界清楚，系统才不会越做越乱。</a:t>
            </a:r>
          </a:p>
        </p:txBody>
      </p:sp>
      <p:sp>
        <p:nvSpPr>
          <p:cNvPr id="4" name="boundary-top-space">
            <a:extLst xmlns:a="http://schemas.openxmlformats.org/drawingml/2006/main">
              <a:ext uri="{FF2B5EF4-FFF2-40B4-BE49-F238E27FC236}">
                <a16:creationId xmlns:a16="http://schemas.microsoft.com/office/drawing/2014/main" id="{B2AFD8AE-1741-47DB-8E56-A625AF0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6154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mark-DigitalAgent Core 是大脑">
            <a:extLst xmlns:a="http://schemas.openxmlformats.org/drawingml/2006/main">
              <a:ext uri="{FF2B5EF4-FFF2-40B4-BE49-F238E27FC236}">
                <a16:creationId xmlns:a16="http://schemas.microsoft.com/office/drawing/2014/main" id="{DF90D773-0C36-4A43-9234-712BF3F4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33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EAA"/>
          </a:solidFill>
          <a:ln xmlns:a="http://schemas.openxmlformats.org/drawingml/2006/main" w="0">
            <a:solidFill>
              <a:srgbClr val="2E5EAA"/>
            </a:solidFill>
            <a:prstDash val="solid"/>
          </a:ln>
        </p:spPr>
      </p:sp>
      <p:sp>
        <p:nvSpPr>
          <p:cNvPr id="6" name="label-DigitalAgent Core 是大脑">
            <a:extLst xmlns:a="http://schemas.openxmlformats.org/drawingml/2006/main">
              <a:ext uri="{FF2B5EF4-FFF2-40B4-BE49-F238E27FC236}">
                <a16:creationId xmlns:a16="http://schemas.microsoft.com/office/drawing/2014/main" id="{E18FC56B-3459-499D-B740-532D1A3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1581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DigitalAgent Core 是大脑</a:t>
            </a:r>
          </a:p>
        </p:txBody>
      </p:sp>
      <p:sp>
        <p:nvSpPr>
          <p:cNvPr id="7" name="desc-DigitalAgent Core 是大脑">
            <a:extLst xmlns:a="http://schemas.openxmlformats.org/drawingml/2006/main">
              <a:ext uri="{FF2B5EF4-FFF2-40B4-BE49-F238E27FC236}">
                <a16:creationId xmlns:a16="http://schemas.microsoft.com/office/drawing/2014/main" id="{9EFB380A-E450-44CC-A2DC-6B136CE1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A"/>
                </a:solidFill>
              </a:defRPr>
            </a:pPr>
            <a:r>
              <a:rPr sz="1800">
                <a:solidFill>
                  <a:srgbClr val="5B667A"/>
                </a:solidFill>
              </a:rPr>
              <a:t>负责目标、团队、任务、记忆、审核、复盘。</a:t>
            </a:r>
          </a:p>
        </p:txBody>
      </p:sp>
      <p:sp>
        <p:nvSpPr>
          <p:cNvPr id="8" name="mark-OpenClaw 是执行器">
            <a:extLst xmlns:a="http://schemas.openxmlformats.org/drawingml/2006/main">
              <a:ext uri="{FF2B5EF4-FFF2-40B4-BE49-F238E27FC236}">
                <a16:creationId xmlns:a16="http://schemas.microsoft.com/office/drawing/2014/main" id="{F6F3F624-0339-4041-B899-39E14534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133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9" name="label-OpenClaw 是执行器">
            <a:extLst xmlns:a="http://schemas.openxmlformats.org/drawingml/2006/main">
              <a:ext uri="{FF2B5EF4-FFF2-40B4-BE49-F238E27FC236}">
                <a16:creationId xmlns:a16="http://schemas.microsoft.com/office/drawing/2014/main" id="{EC2BA8ED-36B9-4BE6-B106-45DE5B1B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62600"/>
            <a:ext cx="1581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OpenClaw 是执行器</a:t>
            </a:r>
          </a:p>
        </p:txBody>
      </p:sp>
      <p:sp>
        <p:nvSpPr>
          <p:cNvPr id="10" name="desc-OpenClaw 是执行器">
            <a:extLst xmlns:a="http://schemas.openxmlformats.org/drawingml/2006/main">
              <a:ext uri="{FF2B5EF4-FFF2-40B4-BE49-F238E27FC236}">
                <a16:creationId xmlns:a16="http://schemas.microsoft.com/office/drawing/2014/main" id="{361D0F02-DF2F-4AEC-B165-5DC2CFB7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62650"/>
            <a:ext cx="548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A"/>
                </a:solidFill>
              </a:defRPr>
            </a:pPr>
            <a:r>
              <a:rPr sz="1800">
                <a:solidFill>
                  <a:srgbClr val="5B667A"/>
                </a:solidFill>
              </a:rPr>
              <a:t>负责浏览器、小红书页面、数据采集、外部工具动作。</a:t>
            </a:r>
          </a:p>
        </p:txBody>
      </p:sp>
      <p:sp>
        <p:nvSpPr>
          <p:cNvPr id="11" name="mark-Edict 是参考，不是底座">
            <a:extLst xmlns:a="http://schemas.openxmlformats.org/drawingml/2006/main">
              <a:ext uri="{FF2B5EF4-FFF2-40B4-BE49-F238E27FC236}">
                <a16:creationId xmlns:a16="http://schemas.microsoft.com/office/drawing/2014/main" id="{C9EC274C-A653-4EA6-9434-C6DEDDF4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15100"/>
            <a:ext cx="133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B2A"/>
          </a:solidFill>
          <a:ln xmlns:a="http://schemas.openxmlformats.org/drawingml/2006/main" w="0">
            <a:solidFill>
              <a:srgbClr val="C88B2A"/>
            </a:solidFill>
            <a:prstDash val="solid"/>
          </a:ln>
        </p:spPr>
      </p:sp>
      <p:sp>
        <p:nvSpPr>
          <p:cNvPr id="12" name="label-Edict 是参考，不是底座">
            <a:extLst xmlns:a="http://schemas.openxmlformats.org/drawingml/2006/main">
              <a:ext uri="{FF2B5EF4-FFF2-40B4-BE49-F238E27FC236}">
                <a16:creationId xmlns:a16="http://schemas.microsoft.com/office/drawing/2014/main" id="{E0FEC90D-7C1F-4E9F-8915-59E6EE82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34150"/>
            <a:ext cx="1581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Edict 是参考，不是底座</a:t>
            </a:r>
          </a:p>
        </p:txBody>
      </p:sp>
      <p:sp>
        <p:nvSpPr>
          <p:cNvPr id="13" name="desc-Edict 是参考，不是底座">
            <a:extLst xmlns:a="http://schemas.openxmlformats.org/drawingml/2006/main">
              <a:ext uri="{FF2B5EF4-FFF2-40B4-BE49-F238E27FC236}">
                <a16:creationId xmlns:a16="http://schemas.microsoft.com/office/drawing/2014/main" id="{77ED4C60-C026-4F44-83BA-B83F4346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93420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A"/>
                </a:solidFill>
              </a:defRPr>
            </a:pPr>
            <a:r>
              <a:rPr sz="1800">
                <a:solidFill>
                  <a:srgbClr val="5B667A"/>
                </a:solidFill>
              </a:rPr>
              <a:t>学习它的组织思路，但不把我们的产品绑在它的代码里。</a:t>
            </a:r>
          </a:p>
        </p:txBody>
      </p:sp>
      <p:sp>
        <p:nvSpPr>
          <p:cNvPr id="14" name="boundary-bottom-space">
            <a:extLst xmlns:a="http://schemas.openxmlformats.org/drawingml/2006/main">
              <a:ext uri="{FF2B5EF4-FFF2-40B4-BE49-F238E27FC236}">
                <a16:creationId xmlns:a16="http://schemas.microsoft.com/office/drawing/2014/main" id="{FD0494C9-2413-4834-991D-990E1A0F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16154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49580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98DF468-631B-4154-8142-A7C2E99F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740D66-9308-4AA7-9DE8-66B96CB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2590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核心对象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F950AF-4C59-449C-A821-10E51D56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724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先把系统骨架设计清楚，再写代码。</a:t>
            </a:r>
          </a:p>
        </p:txBody>
      </p:sp>
      <p:sp>
        <p:nvSpPr>
          <p:cNvPr id="4" name="node-Mission">
            <a:extLst xmlns:a="http://schemas.openxmlformats.org/drawingml/2006/main">
              <a:ext uri="{FF2B5EF4-FFF2-40B4-BE49-F238E27FC236}">
                <a16:creationId xmlns:a16="http://schemas.microsoft.com/office/drawing/2014/main" id="{1AEF4957-D53D-4DD8-851D-52654966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5207000" cy="3481388"/>
          </a:xfrm>
          <a:prstGeom xmlns:a="http://schemas.openxmlformats.org/drawingml/2006/main" prst="roundRect">
            <a:avLst>
              <a:gd name="adj" fmla="val 2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E5EAA"/>
            </a:solidFill>
            <a:prstDash val="solid"/>
          </a:ln>
        </p:spPr>
      </p:sp>
      <p:sp>
        <p:nvSpPr>
          <p:cNvPr id="5" name="node-title-Mission">
            <a:extLst xmlns:a="http://schemas.openxmlformats.org/drawingml/2006/main">
              <a:ext uri="{FF2B5EF4-FFF2-40B4-BE49-F238E27FC236}">
                <a16:creationId xmlns:a16="http://schemas.microsoft.com/office/drawing/2014/main" id="{B0E64862-8D5F-4B1C-827E-916FB659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E5EAA"/>
                </a:solidFill>
              </a:defRPr>
            </a:pPr>
            <a:r>
              <a:rPr sz="2250" b="1">
                <a:solidFill>
                  <a:srgbClr val="2E5EAA"/>
                </a:solidFill>
              </a:rPr>
              <a:t>Mission</a:t>
            </a:r>
          </a:p>
        </p:txBody>
      </p:sp>
      <p:sp>
        <p:nvSpPr>
          <p:cNvPr id="6" name="node-detail-Mission">
            <a:extLst xmlns:a="http://schemas.openxmlformats.org/drawingml/2006/main">
              <a:ext uri="{FF2B5EF4-FFF2-40B4-BE49-F238E27FC236}">
                <a16:creationId xmlns:a16="http://schemas.microsoft.com/office/drawing/2014/main" id="{42217408-B807-4AC3-B897-23D71446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目标、约束、成功标准</a:t>
            </a:r>
          </a:p>
        </p:txBody>
      </p:sp>
      <p:sp>
        <p:nvSpPr>
          <p:cNvPr id="7" name="node-OwnerAgent">
            <a:extLst xmlns:a="http://schemas.openxmlformats.org/drawingml/2006/main">
              <a:ext uri="{FF2B5EF4-FFF2-40B4-BE49-F238E27FC236}">
                <a16:creationId xmlns:a16="http://schemas.microsoft.com/office/drawing/2014/main" id="{5FEDEC2B-9000-4F18-95E1-4425A15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257425"/>
            <a:ext cx="5207000" cy="3481388"/>
          </a:xfrm>
          <a:prstGeom xmlns:a="http://schemas.openxmlformats.org/drawingml/2006/main" prst="roundRect">
            <a:avLst>
              <a:gd name="adj" fmla="val 2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B8A7A"/>
            </a:solidFill>
            <a:prstDash val="solid"/>
          </a:ln>
        </p:spPr>
      </p:sp>
      <p:sp>
        <p:nvSpPr>
          <p:cNvPr id="8" name="node-title-OwnerAgent">
            <a:extLst xmlns:a="http://schemas.openxmlformats.org/drawingml/2006/main">
              <a:ext uri="{FF2B5EF4-FFF2-40B4-BE49-F238E27FC236}">
                <a16:creationId xmlns:a16="http://schemas.microsoft.com/office/drawing/2014/main" id="{BC0A664F-BC5C-487A-AB13-0EF1DB2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8A7A"/>
                </a:solidFill>
              </a:defRPr>
            </a:pPr>
            <a:r>
              <a:rPr sz="2250" b="1">
                <a:solidFill>
                  <a:srgbClr val="1B8A7A"/>
                </a:solidFill>
              </a:rPr>
              <a:t>OwnerAgent</a:t>
            </a:r>
          </a:p>
        </p:txBody>
      </p:sp>
      <p:sp>
        <p:nvSpPr>
          <p:cNvPr id="9" name="node-detail-OwnerAgent">
            <a:extLst xmlns:a="http://schemas.openxmlformats.org/drawingml/2006/main">
              <a:ext uri="{FF2B5EF4-FFF2-40B4-BE49-F238E27FC236}">
                <a16:creationId xmlns:a16="http://schemas.microsoft.com/office/drawing/2014/main" id="{0BA16337-687F-4014-B4C2-997CD20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负责人，决定怎么组队</a:t>
            </a:r>
          </a:p>
        </p:txBody>
      </p:sp>
      <p:sp>
        <p:nvSpPr>
          <p:cNvPr id="10" name="node-HRAgent">
            <a:extLst xmlns:a="http://schemas.openxmlformats.org/drawingml/2006/main">
              <a:ext uri="{FF2B5EF4-FFF2-40B4-BE49-F238E27FC236}">
                <a16:creationId xmlns:a16="http://schemas.microsoft.com/office/drawing/2014/main" id="{46F0A688-C58A-45D6-A1F2-E9A61EB2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4200" y="2257425"/>
            <a:ext cx="5207000" cy="3481388"/>
          </a:xfrm>
          <a:prstGeom xmlns:a="http://schemas.openxmlformats.org/drawingml/2006/main" prst="roundRect">
            <a:avLst>
              <a:gd name="adj" fmla="val 2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88B2A"/>
            </a:solidFill>
            <a:prstDash val="solid"/>
          </a:ln>
        </p:spPr>
      </p:sp>
      <p:sp>
        <p:nvSpPr>
          <p:cNvPr id="11" name="node-title-HRAgent">
            <a:extLst xmlns:a="http://schemas.openxmlformats.org/drawingml/2006/main">
              <a:ext uri="{FF2B5EF4-FFF2-40B4-BE49-F238E27FC236}">
                <a16:creationId xmlns:a16="http://schemas.microsoft.com/office/drawing/2014/main" id="{3C1BB088-E917-45FB-80AD-B1731BA4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4955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8B2A"/>
                </a:solidFill>
              </a:defRPr>
            </a:pPr>
            <a:r>
              <a:rPr sz="2250" b="1">
                <a:solidFill>
                  <a:srgbClr val="C88B2A"/>
                </a:solidFill>
              </a:rPr>
              <a:t>HRAgent</a:t>
            </a:r>
          </a:p>
        </p:txBody>
      </p:sp>
      <p:sp>
        <p:nvSpPr>
          <p:cNvPr id="12" name="node-detail-HRAgent">
            <a:extLst xmlns:a="http://schemas.openxmlformats.org/drawingml/2006/main">
              <a:ext uri="{FF2B5EF4-FFF2-40B4-BE49-F238E27FC236}">
                <a16:creationId xmlns:a16="http://schemas.microsoft.com/office/drawing/2014/main" id="{056BCD07-DA17-4AB9-BA50-274307F7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575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按岗位说明创建 subagents</a:t>
            </a:r>
          </a:p>
        </p:txBody>
      </p:sp>
      <p:sp>
        <p:nvSpPr>
          <p:cNvPr id="13" name="node-RoleSpec">
            <a:extLst xmlns:a="http://schemas.openxmlformats.org/drawingml/2006/main">
              <a:ext uri="{FF2B5EF4-FFF2-40B4-BE49-F238E27FC236}">
                <a16:creationId xmlns:a16="http://schemas.microsoft.com/office/drawing/2014/main" id="{690D088D-78AD-4A8A-BF4C-B9AF6DAE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5513"/>
            <a:ext cx="5207000" cy="3481388"/>
          </a:xfrm>
          <a:prstGeom xmlns:a="http://schemas.openxmlformats.org/drawingml/2006/main" prst="roundRect">
            <a:avLst>
              <a:gd name="adj" fmla="val 2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8473D"/>
            </a:solidFill>
            <a:prstDash val="solid"/>
          </a:ln>
        </p:spPr>
      </p:sp>
      <p:sp>
        <p:nvSpPr>
          <p:cNvPr id="14" name="node-title-RoleSpec">
            <a:extLst xmlns:a="http://schemas.openxmlformats.org/drawingml/2006/main">
              <a:ext uri="{FF2B5EF4-FFF2-40B4-BE49-F238E27FC236}">
                <a16:creationId xmlns:a16="http://schemas.microsoft.com/office/drawing/2014/main" id="{C96F3930-5904-4D95-A1A3-6A213220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293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473D"/>
                </a:solidFill>
              </a:defRPr>
            </a:pPr>
            <a:r>
              <a:rPr sz="2250" b="1">
                <a:solidFill>
                  <a:srgbClr val="C8473D"/>
                </a:solidFill>
              </a:rPr>
              <a:t>RoleSpec</a:t>
            </a:r>
          </a:p>
        </p:txBody>
      </p:sp>
      <p:sp>
        <p:nvSpPr>
          <p:cNvPr id="15" name="node-detail-RoleSpec">
            <a:extLst xmlns:a="http://schemas.openxmlformats.org/drawingml/2006/main">
              <a:ext uri="{FF2B5EF4-FFF2-40B4-BE49-F238E27FC236}">
                <a16:creationId xmlns:a16="http://schemas.microsoft.com/office/drawing/2014/main" id="{0AB9D56C-068A-4E48-9942-43DFD35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5913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职责、权限、输入输出</a:t>
            </a:r>
          </a:p>
        </p:txBody>
      </p:sp>
      <p:sp>
        <p:nvSpPr>
          <p:cNvPr id="16" name="node-TaskGraph">
            <a:extLst xmlns:a="http://schemas.openxmlformats.org/drawingml/2006/main">
              <a:ext uri="{FF2B5EF4-FFF2-40B4-BE49-F238E27FC236}">
                <a16:creationId xmlns:a16="http://schemas.microsoft.com/office/drawing/2014/main" id="{8A805725-7D27-4ABF-BA8F-E7FDE6D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6005513"/>
            <a:ext cx="5207000" cy="3481388"/>
          </a:xfrm>
          <a:prstGeom xmlns:a="http://schemas.openxmlformats.org/drawingml/2006/main" prst="roundRect">
            <a:avLst>
              <a:gd name="adj" fmla="val 2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E5EAA"/>
            </a:solidFill>
            <a:prstDash val="solid"/>
          </a:ln>
        </p:spPr>
      </p:sp>
      <p:sp>
        <p:nvSpPr>
          <p:cNvPr id="17" name="node-title-TaskGraph">
            <a:extLst xmlns:a="http://schemas.openxmlformats.org/drawingml/2006/main">
              <a:ext uri="{FF2B5EF4-FFF2-40B4-BE49-F238E27FC236}">
                <a16:creationId xmlns:a16="http://schemas.microsoft.com/office/drawing/2014/main" id="{6D27B00A-7B6C-427D-BE96-928264CE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2293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E5EAA"/>
                </a:solidFill>
              </a:defRPr>
            </a:pPr>
            <a:r>
              <a:rPr sz="2250" b="1">
                <a:solidFill>
                  <a:srgbClr val="2E5EAA"/>
                </a:solidFill>
              </a:rPr>
              <a:t>TaskGraph</a:t>
            </a:r>
          </a:p>
        </p:txBody>
      </p:sp>
      <p:sp>
        <p:nvSpPr>
          <p:cNvPr id="18" name="node-detail-TaskGraph">
            <a:extLst xmlns:a="http://schemas.openxmlformats.org/drawingml/2006/main">
              <a:ext uri="{FF2B5EF4-FFF2-40B4-BE49-F238E27FC236}">
                <a16:creationId xmlns:a16="http://schemas.microsoft.com/office/drawing/2014/main" id="{8D11680D-80AF-4DCD-8438-FFF7EF12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913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任务、依赖、状态流转</a:t>
            </a:r>
          </a:p>
        </p:txBody>
      </p:sp>
      <p:sp>
        <p:nvSpPr>
          <p:cNvPr id="19" name="node-Artifact / Review">
            <a:extLst xmlns:a="http://schemas.openxmlformats.org/drawingml/2006/main">
              <a:ext uri="{FF2B5EF4-FFF2-40B4-BE49-F238E27FC236}">
                <a16:creationId xmlns:a16="http://schemas.microsoft.com/office/drawing/2014/main" id="{C493BFC4-EC20-442A-9F34-AB8B181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4200" y="6005513"/>
            <a:ext cx="5207000" cy="3481388"/>
          </a:xfrm>
          <a:prstGeom xmlns:a="http://schemas.openxmlformats.org/drawingml/2006/main" prst="roundRect">
            <a:avLst>
              <a:gd name="adj" fmla="val 2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B8A7A"/>
            </a:solidFill>
            <a:prstDash val="solid"/>
          </a:ln>
        </p:spPr>
      </p:sp>
      <p:sp>
        <p:nvSpPr>
          <p:cNvPr id="20" name="node-title-Artifact / Review">
            <a:extLst xmlns:a="http://schemas.openxmlformats.org/drawingml/2006/main">
              <a:ext uri="{FF2B5EF4-FFF2-40B4-BE49-F238E27FC236}">
                <a16:creationId xmlns:a16="http://schemas.microsoft.com/office/drawing/2014/main" id="{1E6441D4-2FFE-4509-A773-2D197E94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22935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8A7A"/>
                </a:solidFill>
              </a:defRPr>
            </a:pPr>
            <a:r>
              <a:rPr sz="2250" b="1">
                <a:solidFill>
                  <a:srgbClr val="1B8A7A"/>
                </a:solidFill>
              </a:rPr>
              <a:t>Artifact / Review</a:t>
            </a:r>
          </a:p>
        </p:txBody>
      </p:sp>
      <p:sp>
        <p:nvSpPr>
          <p:cNvPr id="21" name="node-detail-Artifact / Review">
            <a:extLst xmlns:a="http://schemas.openxmlformats.org/drawingml/2006/main">
              <a:ext uri="{FF2B5EF4-FFF2-40B4-BE49-F238E27FC236}">
                <a16:creationId xmlns:a16="http://schemas.microsoft.com/office/drawing/2014/main" id="{89BB8A21-87A0-4223-8CBE-5F0063F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5913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产物、证据、审核结论</a:t>
            </a:r>
          </a:p>
        </p:txBody>
      </p:sp>
    </p:spTree>
    <p:extLst>
      <p:ext uri="{BB962C8B-B14F-4D97-AF65-F5344CB8AC3E}">
        <p14:creationId xmlns:p14="http://schemas.microsoft.com/office/powerpoint/2010/main" val="143571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67D3FC2-4DEB-45FA-B3CF-94AF74F4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971ED0-618E-4BFB-B714-E0B83FB5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3124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Agent类型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96A8FC-5283-4930-8984-A7BFA91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5314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固定的是组织机制，动态的是业务角色。</a:t>
            </a:r>
          </a:p>
        </p:txBody>
      </p:sp>
      <p:sp>
        <p:nvSpPr>
          <p:cNvPr id="4" name="agent-types-top-space">
            <a:extLst xmlns:a="http://schemas.openxmlformats.org/drawingml/2006/main">
              <a:ext uri="{FF2B5EF4-FFF2-40B4-BE49-F238E27FC236}">
                <a16:creationId xmlns:a16="http://schemas.microsoft.com/office/drawing/2014/main" id="{996611B1-264B-460D-AC31-1099A06D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6154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mark-Meta Agents">
            <a:extLst xmlns:a="http://schemas.openxmlformats.org/drawingml/2006/main">
              <a:ext uri="{FF2B5EF4-FFF2-40B4-BE49-F238E27FC236}">
                <a16:creationId xmlns:a16="http://schemas.microsoft.com/office/drawing/2014/main" id="{6487E59D-5E5E-4E5E-95E6-78E39BE9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33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EAA"/>
          </a:solidFill>
          <a:ln xmlns:a="http://schemas.openxmlformats.org/drawingml/2006/main" w="0">
            <a:solidFill>
              <a:srgbClr val="2E5EAA"/>
            </a:solidFill>
            <a:prstDash val="solid"/>
          </a:ln>
        </p:spPr>
      </p:sp>
      <p:sp>
        <p:nvSpPr>
          <p:cNvPr id="6" name="label-Meta Agents">
            <a:extLst xmlns:a="http://schemas.openxmlformats.org/drawingml/2006/main">
              <a:ext uri="{FF2B5EF4-FFF2-40B4-BE49-F238E27FC236}">
                <a16:creationId xmlns:a16="http://schemas.microsoft.com/office/drawing/2014/main" id="{7A920052-39B7-46DC-B1A9-51F542A1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1581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Meta Agents</a:t>
            </a:r>
          </a:p>
        </p:txBody>
      </p:sp>
      <p:sp>
        <p:nvSpPr>
          <p:cNvPr id="7" name="desc-Meta Agents">
            <a:extLst xmlns:a="http://schemas.openxmlformats.org/drawingml/2006/main">
              <a:ext uri="{FF2B5EF4-FFF2-40B4-BE49-F238E27FC236}">
                <a16:creationId xmlns:a16="http://schemas.microsoft.com/office/drawing/2014/main" id="{E726374E-341B-431F-96B7-C9134868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701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A"/>
                </a:solidFill>
              </a:defRPr>
            </a:pPr>
            <a:r>
              <a:rPr sz="1800">
                <a:solidFill>
                  <a:srgbClr val="5B667A"/>
                </a:solidFill>
              </a:rPr>
              <a:t>Owner、HR、Supervisor、Scheduler。负责组织，不负责具体业务。</a:t>
            </a:r>
          </a:p>
        </p:txBody>
      </p:sp>
      <p:sp>
        <p:nvSpPr>
          <p:cNvPr id="8" name="mark-Business Agents">
            <a:extLst xmlns:a="http://schemas.openxmlformats.org/drawingml/2006/main">
              <a:ext uri="{FF2B5EF4-FFF2-40B4-BE49-F238E27FC236}">
                <a16:creationId xmlns:a16="http://schemas.microsoft.com/office/drawing/2014/main" id="{93E45922-7BF3-4EDC-8C4B-874D0C4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133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9" name="label-Business Agents">
            <a:extLst xmlns:a="http://schemas.openxmlformats.org/drawingml/2006/main">
              <a:ext uri="{FF2B5EF4-FFF2-40B4-BE49-F238E27FC236}">
                <a16:creationId xmlns:a16="http://schemas.microsoft.com/office/drawing/2014/main" id="{D2979B20-A532-418D-8BE3-61258009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62600"/>
            <a:ext cx="1581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Business Agents</a:t>
            </a:r>
          </a:p>
        </p:txBody>
      </p:sp>
      <p:sp>
        <p:nvSpPr>
          <p:cNvPr id="10" name="desc-Business Agents">
            <a:extLst xmlns:a="http://schemas.openxmlformats.org/drawingml/2006/main">
              <a:ext uri="{FF2B5EF4-FFF2-40B4-BE49-F238E27FC236}">
                <a16:creationId xmlns:a16="http://schemas.microsoft.com/office/drawing/2014/main" id="{50D3C1F1-7C53-4F74-9895-746E4D6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62650"/>
            <a:ext cx="594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A"/>
                </a:solidFill>
              </a:defRPr>
            </a:pPr>
            <a:r>
              <a:rPr sz="1800">
                <a:solidFill>
                  <a:srgbClr val="5B667A"/>
                </a:solidFill>
              </a:rPr>
              <a:t>由负责人按任务动态创建，例如选题、文案、数据、风控。</a:t>
            </a:r>
          </a:p>
        </p:txBody>
      </p:sp>
      <p:sp>
        <p:nvSpPr>
          <p:cNvPr id="11" name="mark-Execution Agents">
            <a:extLst xmlns:a="http://schemas.openxmlformats.org/drawingml/2006/main">
              <a:ext uri="{FF2B5EF4-FFF2-40B4-BE49-F238E27FC236}">
                <a16:creationId xmlns:a16="http://schemas.microsoft.com/office/drawing/2014/main" id="{379C5166-DF00-4DD9-B7EA-F67B1362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15100"/>
            <a:ext cx="133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B2A"/>
          </a:solidFill>
          <a:ln xmlns:a="http://schemas.openxmlformats.org/drawingml/2006/main" w="0">
            <a:solidFill>
              <a:srgbClr val="C88B2A"/>
            </a:solidFill>
            <a:prstDash val="solid"/>
          </a:ln>
        </p:spPr>
      </p:sp>
      <p:sp>
        <p:nvSpPr>
          <p:cNvPr id="12" name="label-Execution Agents">
            <a:extLst xmlns:a="http://schemas.openxmlformats.org/drawingml/2006/main">
              <a:ext uri="{FF2B5EF4-FFF2-40B4-BE49-F238E27FC236}">
                <a16:creationId xmlns:a16="http://schemas.microsoft.com/office/drawing/2014/main" id="{EF0866DC-E9CE-4647-886E-B86ED4B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534150"/>
            <a:ext cx="1581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Execution Agents</a:t>
            </a:r>
          </a:p>
        </p:txBody>
      </p:sp>
      <p:sp>
        <p:nvSpPr>
          <p:cNvPr id="13" name="desc-Execution Agents">
            <a:extLst xmlns:a="http://schemas.openxmlformats.org/drawingml/2006/main">
              <a:ext uri="{FF2B5EF4-FFF2-40B4-BE49-F238E27FC236}">
                <a16:creationId xmlns:a16="http://schemas.microsoft.com/office/drawing/2014/main" id="{B6E9D521-B5C0-4DC1-B112-15D8EA59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934200"/>
            <a:ext cx="600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67A"/>
                </a:solidFill>
              </a:defRPr>
            </a:pPr>
            <a:r>
              <a:rPr sz="1800">
                <a:solidFill>
                  <a:srgbClr val="5B667A"/>
                </a:solidFill>
              </a:rPr>
              <a:t>在 OpenClaw 中执行浏览器和外部动作，是临时执行容器。</a:t>
            </a:r>
          </a:p>
        </p:txBody>
      </p:sp>
      <p:sp>
        <p:nvSpPr>
          <p:cNvPr id="14" name="agent-types-bottom-space">
            <a:extLst xmlns:a="http://schemas.openxmlformats.org/drawingml/2006/main">
              <a:ext uri="{FF2B5EF4-FFF2-40B4-BE49-F238E27FC236}">
                <a16:creationId xmlns:a16="http://schemas.microsoft.com/office/drawing/2014/main" id="{782DB585-A5D6-43CC-903E-C432D50F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67600"/>
            <a:ext cx="161544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28287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0D49153-7411-4472-9F41-72D3C13A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C16B9F-A562-419E-BF40-09A7F5DF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5981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如何连接 OpenClaw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571A8B-B83C-4686-9F3A-FF1E8BF4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60388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Core 只发送结构化任务，不把决策权交出去。</a:t>
            </a:r>
          </a:p>
        </p:txBody>
      </p:sp>
      <p:sp>
        <p:nvSpPr>
          <p:cNvPr id="4" name="openclaw-top-space">
            <a:extLst xmlns:a="http://schemas.openxmlformats.org/drawingml/2006/main">
              <a:ext uri="{FF2B5EF4-FFF2-40B4-BE49-F238E27FC236}">
                <a16:creationId xmlns:a16="http://schemas.microsoft.com/office/drawing/2014/main" id="{5F53CD73-19EA-4C81-BBCA-301B8B9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16154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node-Core">
            <a:extLst xmlns:a="http://schemas.openxmlformats.org/drawingml/2006/main">
              <a:ext uri="{FF2B5EF4-FFF2-40B4-BE49-F238E27FC236}">
                <a16:creationId xmlns:a16="http://schemas.microsoft.com/office/drawing/2014/main" id="{22E41006-0D56-4DBE-BF68-BC94AEA6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53013"/>
            <a:ext cx="448310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E5EAA"/>
            </a:solidFill>
            <a:prstDash val="solid"/>
          </a:ln>
        </p:spPr>
      </p:sp>
      <p:sp>
        <p:nvSpPr>
          <p:cNvPr id="6" name="node-title-Core">
            <a:extLst xmlns:a="http://schemas.openxmlformats.org/drawingml/2006/main">
              <a:ext uri="{FF2B5EF4-FFF2-40B4-BE49-F238E27FC236}">
                <a16:creationId xmlns:a16="http://schemas.microsoft.com/office/drawing/2014/main" id="{E24E80E8-FF8B-44A5-A319-87FEAE43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768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E5EAA"/>
                </a:solidFill>
              </a:defRPr>
            </a:pPr>
            <a:r>
              <a:rPr sz="2250" b="1">
                <a:solidFill>
                  <a:srgbClr val="2E5EAA"/>
                </a:solidFill>
              </a:rPr>
              <a:t>Core</a:t>
            </a:r>
          </a:p>
        </p:txBody>
      </p:sp>
      <p:sp>
        <p:nvSpPr>
          <p:cNvPr id="7" name="node-detail-Core">
            <a:extLst xmlns:a="http://schemas.openxmlformats.org/drawingml/2006/main">
              <a:ext uri="{FF2B5EF4-FFF2-40B4-BE49-F238E27FC236}">
                <a16:creationId xmlns:a16="http://schemas.microsoft.com/office/drawing/2014/main" id="{A644C76E-3D03-48B6-BD5E-55113CF9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38800"/>
            <a:ext cx="390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生成任务 payload</a:t>
            </a:r>
          </a:p>
        </p:txBody>
      </p:sp>
      <p:sp>
        <p:nvSpPr>
          <p:cNvPr id="8" name="arrow-1">
            <a:extLst xmlns:a="http://schemas.openxmlformats.org/drawingml/2006/main">
              <a:ext uri="{FF2B5EF4-FFF2-40B4-BE49-F238E27FC236}">
                <a16:creationId xmlns:a16="http://schemas.microsoft.com/office/drawing/2014/main" id="{4A770EB5-3BB5-41B1-A157-5EB4E2C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48250"/>
            <a:ext cx="1047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B667A"/>
                </a:solidFill>
              </a:defRPr>
            </a:pPr>
            <a:r>
              <a:rPr sz="4350" b="1">
                <a:solidFill>
                  <a:srgbClr val="5B667A"/>
                </a:solidFill>
              </a:rPr>
              <a:t>→</a:t>
            </a:r>
          </a:p>
        </p:txBody>
      </p:sp>
      <p:sp>
        <p:nvSpPr>
          <p:cNvPr id="9" name="node-OpenClaw Runner">
            <a:extLst xmlns:a="http://schemas.openxmlformats.org/drawingml/2006/main">
              <a:ext uri="{FF2B5EF4-FFF2-40B4-BE49-F238E27FC236}">
                <a16:creationId xmlns:a16="http://schemas.microsoft.com/office/drawing/2014/main" id="{8034A428-1D96-40F5-8C9E-641B291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450" y="5053013"/>
            <a:ext cx="448310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B8A7A"/>
            </a:solidFill>
            <a:prstDash val="solid"/>
          </a:ln>
        </p:spPr>
      </p:sp>
      <p:sp>
        <p:nvSpPr>
          <p:cNvPr id="10" name="node-title-OpenClaw Runner">
            <a:extLst xmlns:a="http://schemas.openxmlformats.org/drawingml/2006/main">
              <a:ext uri="{FF2B5EF4-FFF2-40B4-BE49-F238E27FC236}">
                <a16:creationId xmlns:a16="http://schemas.microsoft.com/office/drawing/2014/main" id="{283AFF33-C375-478A-901F-F9C8735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768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8A7A"/>
                </a:solidFill>
              </a:defRPr>
            </a:pPr>
            <a:r>
              <a:rPr sz="2250" b="1">
                <a:solidFill>
                  <a:srgbClr val="1B8A7A"/>
                </a:solidFill>
              </a:rPr>
              <a:t>OpenClaw Runner</a:t>
            </a:r>
          </a:p>
        </p:txBody>
      </p:sp>
      <p:sp>
        <p:nvSpPr>
          <p:cNvPr id="11" name="node-detail-OpenClaw Runner">
            <a:extLst xmlns:a="http://schemas.openxmlformats.org/drawingml/2006/main">
              <a:ext uri="{FF2B5EF4-FFF2-40B4-BE49-F238E27FC236}">
                <a16:creationId xmlns:a16="http://schemas.microsoft.com/office/drawing/2014/main" id="{2F3BE191-9CB9-4B76-B776-DA1DFCDB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38800"/>
            <a:ext cx="390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调用浏览器和工具</a:t>
            </a:r>
          </a:p>
        </p:txBody>
      </p:sp>
      <p:sp>
        <p:nvSpPr>
          <p:cNvPr id="12" name="arrow-2">
            <a:extLst xmlns:a="http://schemas.openxmlformats.org/drawingml/2006/main">
              <a:ext uri="{FF2B5EF4-FFF2-40B4-BE49-F238E27FC236}">
                <a16:creationId xmlns:a16="http://schemas.microsoft.com/office/drawing/2014/main" id="{28CB1D71-3255-4E5B-BF2C-19CABABC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048250"/>
            <a:ext cx="1047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B667A"/>
                </a:solidFill>
              </a:defRPr>
            </a:pPr>
            <a:r>
              <a:rPr sz="4350" b="1">
                <a:solidFill>
                  <a:srgbClr val="5B667A"/>
                </a:solidFill>
              </a:rPr>
              <a:t>→</a:t>
            </a:r>
          </a:p>
        </p:txBody>
      </p:sp>
      <p:sp>
        <p:nvSpPr>
          <p:cNvPr id="13" name="node-Artifact">
            <a:extLst xmlns:a="http://schemas.openxmlformats.org/drawingml/2006/main">
              <a:ext uri="{FF2B5EF4-FFF2-40B4-BE49-F238E27FC236}">
                <a16:creationId xmlns:a16="http://schemas.microsoft.com/office/drawing/2014/main" id="{DFA8C646-7EB7-43A0-AB85-677A735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8100" y="5053013"/>
            <a:ext cx="4483100" cy="1019175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88B2A"/>
            </a:solidFill>
            <a:prstDash val="solid"/>
          </a:ln>
        </p:spPr>
      </p:sp>
      <p:sp>
        <p:nvSpPr>
          <p:cNvPr id="14" name="node-title-Artifact">
            <a:extLst xmlns:a="http://schemas.openxmlformats.org/drawingml/2006/main">
              <a:ext uri="{FF2B5EF4-FFF2-40B4-BE49-F238E27FC236}">
                <a16:creationId xmlns:a16="http://schemas.microsoft.com/office/drawing/2014/main" id="{C4211EAC-165F-439D-B807-4207858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2768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8B2A"/>
                </a:solidFill>
              </a:defRPr>
            </a:pPr>
            <a:r>
              <a:rPr sz="2250" b="1">
                <a:solidFill>
                  <a:srgbClr val="C88B2A"/>
                </a:solidFill>
              </a:rPr>
              <a:t>Artifact</a:t>
            </a:r>
          </a:p>
        </p:txBody>
      </p:sp>
      <p:sp>
        <p:nvSpPr>
          <p:cNvPr id="15" name="node-detail-Artifact">
            <a:extLst xmlns:a="http://schemas.openxmlformats.org/drawingml/2006/main">
              <a:ext uri="{FF2B5EF4-FFF2-40B4-BE49-F238E27FC236}">
                <a16:creationId xmlns:a16="http://schemas.microsoft.com/office/drawing/2014/main" id="{1EFEEDDA-852E-4266-BF46-907D7C4A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5638800"/>
            <a:ext cx="3905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结果、证据、错误回传</a:t>
            </a:r>
          </a:p>
        </p:txBody>
      </p:sp>
      <p:sp>
        <p:nvSpPr>
          <p:cNvPr id="16" name="openclaw-bottom-space">
            <a:extLst xmlns:a="http://schemas.openxmlformats.org/drawingml/2006/main">
              <a:ext uri="{FF2B5EF4-FFF2-40B4-BE49-F238E27FC236}">
                <a16:creationId xmlns:a16="http://schemas.microsoft.com/office/drawing/2014/main" id="{AABA1F40-D91A-48F4-933C-406DDB2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00800"/>
            <a:ext cx="16154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oundary-note">
            <a:extLst xmlns:a="http://schemas.openxmlformats.org/drawingml/2006/main">
              <a:ext uri="{FF2B5EF4-FFF2-40B4-BE49-F238E27FC236}">
                <a16:creationId xmlns:a16="http://schemas.microsoft.com/office/drawing/2014/main" id="{AA7FD7B2-EFE7-40BC-B693-50F73A5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915400"/>
            <a:ext cx="10687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B667A"/>
                </a:solidFill>
              </a:defRPr>
            </a:pPr>
            <a:r>
              <a:rPr sz="2250">
                <a:solidFill>
                  <a:srgbClr val="5B667A"/>
                </a:solidFill>
              </a:rPr>
              <a:t>关键点：OpenClaw 可以创建 subagent 执行任务，但 DigitalAgent 的 AgentInstance 才是业务角色。</a:t>
            </a:r>
          </a:p>
        </p:txBody>
      </p:sp>
    </p:spTree>
    <p:extLst>
      <p:ext uri="{BB962C8B-B14F-4D97-AF65-F5344CB8AC3E}">
        <p14:creationId xmlns:p14="http://schemas.microsoft.com/office/powerpoint/2010/main" val="12178831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0BD4E79-FFA7-45E4-B684-8F99E021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79BB01-C371-4B23-A072-5B8A803A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51816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第一版只验证闭环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EDE9E9-D6BE-4117-810C-8CCBA268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29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不要一开始追求 24 小时完全自治。</a:t>
            </a:r>
          </a:p>
        </p:txBody>
      </p:sp>
      <p:sp>
        <p:nvSpPr>
          <p:cNvPr id="4" name="mvp-top-space">
            <a:extLst xmlns:a="http://schemas.openxmlformats.org/drawingml/2006/main">
              <a:ext uri="{FF2B5EF4-FFF2-40B4-BE49-F238E27FC236}">
                <a16:creationId xmlns:a16="http://schemas.microsoft.com/office/drawing/2014/main" id="{60C16421-1119-48E7-8ACD-3BFF136E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61544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node-会组队">
            <a:extLst xmlns:a="http://schemas.openxmlformats.org/drawingml/2006/main">
              <a:ext uri="{FF2B5EF4-FFF2-40B4-BE49-F238E27FC236}">
                <a16:creationId xmlns:a16="http://schemas.microsoft.com/office/drawing/2014/main" id="{86CF512F-32B4-48D4-A34A-17809D30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43475"/>
            <a:ext cx="5168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E5EAA"/>
            </a:solidFill>
            <a:prstDash val="solid"/>
          </a:ln>
        </p:spPr>
      </p:sp>
      <p:sp>
        <p:nvSpPr>
          <p:cNvPr id="6" name="node-title-会组队">
            <a:extLst xmlns:a="http://schemas.openxmlformats.org/drawingml/2006/main">
              <a:ext uri="{FF2B5EF4-FFF2-40B4-BE49-F238E27FC236}">
                <a16:creationId xmlns:a16="http://schemas.microsoft.com/office/drawing/2014/main" id="{DD5504E3-8EC9-4437-8D4F-04C9D48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816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E5EAA"/>
                </a:solidFill>
              </a:defRPr>
            </a:pPr>
            <a:r>
              <a:rPr sz="2250" b="1">
                <a:solidFill>
                  <a:srgbClr val="2E5EAA"/>
                </a:solidFill>
              </a:rPr>
              <a:t>会组队</a:t>
            </a:r>
          </a:p>
        </p:txBody>
      </p:sp>
      <p:sp>
        <p:nvSpPr>
          <p:cNvPr id="7" name="node-detail-会组队">
            <a:extLst xmlns:a="http://schemas.openxmlformats.org/drawingml/2006/main">
              <a:ext uri="{FF2B5EF4-FFF2-40B4-BE49-F238E27FC236}">
                <a16:creationId xmlns:a16="http://schemas.microsoft.com/office/drawing/2014/main" id="{1FADB8FD-C3CC-48D2-B9AF-7E29BFFF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43550"/>
            <a:ext cx="4591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Owner 能判断需要哪些角色，HR 能创建 subagents。</a:t>
            </a:r>
          </a:p>
        </p:txBody>
      </p:sp>
      <p:sp>
        <p:nvSpPr>
          <p:cNvPr id="8" name="node-会执行">
            <a:extLst xmlns:a="http://schemas.openxmlformats.org/drawingml/2006/main">
              <a:ext uri="{FF2B5EF4-FFF2-40B4-BE49-F238E27FC236}">
                <a16:creationId xmlns:a16="http://schemas.microsoft.com/office/drawing/2014/main" id="{0557EBFB-E794-4389-B0B9-9376DEF2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50" y="4943475"/>
            <a:ext cx="5168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B8A7A"/>
            </a:solidFill>
            <a:prstDash val="solid"/>
          </a:ln>
        </p:spPr>
      </p:sp>
      <p:sp>
        <p:nvSpPr>
          <p:cNvPr id="9" name="node-title-会执行">
            <a:extLst xmlns:a="http://schemas.openxmlformats.org/drawingml/2006/main">
              <a:ext uri="{FF2B5EF4-FFF2-40B4-BE49-F238E27FC236}">
                <a16:creationId xmlns:a16="http://schemas.microsoft.com/office/drawing/2014/main" id="{5E7BAF36-9C4E-4B34-9D2A-24C3CE4C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816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B8A7A"/>
                </a:solidFill>
              </a:defRPr>
            </a:pPr>
            <a:r>
              <a:rPr sz="2250" b="1">
                <a:solidFill>
                  <a:srgbClr val="1B8A7A"/>
                </a:solidFill>
              </a:rPr>
              <a:t>会执行</a:t>
            </a:r>
          </a:p>
        </p:txBody>
      </p:sp>
      <p:sp>
        <p:nvSpPr>
          <p:cNvPr id="10" name="node-detail-会执行">
            <a:extLst xmlns:a="http://schemas.openxmlformats.org/drawingml/2006/main">
              <a:ext uri="{FF2B5EF4-FFF2-40B4-BE49-F238E27FC236}">
                <a16:creationId xmlns:a16="http://schemas.microsoft.com/office/drawing/2014/main" id="{69A3FEDC-FD06-4E0E-BCC8-3000792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4355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任务能交给 OpenClaw，拿回结构化产物。</a:t>
            </a:r>
          </a:p>
        </p:txBody>
      </p:sp>
      <p:sp>
        <p:nvSpPr>
          <p:cNvPr id="11" name="node-会复盘">
            <a:extLst xmlns:a="http://schemas.openxmlformats.org/drawingml/2006/main">
              <a:ext uri="{FF2B5EF4-FFF2-40B4-BE49-F238E27FC236}">
                <a16:creationId xmlns:a16="http://schemas.microsoft.com/office/drawing/2014/main" id="{488548C9-E3B8-43AE-9692-AF852BC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4943475"/>
            <a:ext cx="51689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88B2A"/>
            </a:solidFill>
            <a:prstDash val="solid"/>
          </a:ln>
        </p:spPr>
      </p:sp>
      <p:sp>
        <p:nvSpPr>
          <p:cNvPr id="12" name="node-title-会复盘">
            <a:extLst xmlns:a="http://schemas.openxmlformats.org/drawingml/2006/main">
              <a:ext uri="{FF2B5EF4-FFF2-40B4-BE49-F238E27FC236}">
                <a16:creationId xmlns:a16="http://schemas.microsoft.com/office/drawing/2014/main" id="{37478436-8ECC-4633-999F-E53D6413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181600"/>
            <a:ext cx="459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8B2A"/>
                </a:solidFill>
              </a:defRPr>
            </a:pPr>
            <a:r>
              <a:rPr sz="2250" b="1">
                <a:solidFill>
                  <a:srgbClr val="C88B2A"/>
                </a:solidFill>
              </a:rPr>
              <a:t>会复盘</a:t>
            </a:r>
          </a:p>
        </p:txBody>
      </p:sp>
      <p:sp>
        <p:nvSpPr>
          <p:cNvPr id="13" name="node-detail-会复盘">
            <a:extLst xmlns:a="http://schemas.openxmlformats.org/drawingml/2006/main">
              <a:ext uri="{FF2B5EF4-FFF2-40B4-BE49-F238E27FC236}">
                <a16:creationId xmlns:a16="http://schemas.microsoft.com/office/drawing/2014/main" id="{88BD2FA1-77E9-43D4-8126-F6D22CA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543550"/>
            <a:ext cx="4591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B667A"/>
                </a:solidFill>
              </a:defRPr>
            </a:pPr>
            <a:r>
              <a:rPr sz="1575">
                <a:solidFill>
                  <a:srgbClr val="5B667A"/>
                </a:solidFill>
              </a:rPr>
              <a:t>审核后能生成下一轮任务，而不是一次性回答。</a:t>
            </a:r>
          </a:p>
        </p:txBody>
      </p:sp>
      <p:sp>
        <p:nvSpPr>
          <p:cNvPr id="14" name="mvp-bottom-space">
            <a:extLst xmlns:a="http://schemas.openxmlformats.org/drawingml/2006/main">
              <a:ext uri="{FF2B5EF4-FFF2-40B4-BE49-F238E27FC236}">
                <a16:creationId xmlns:a16="http://schemas.microsoft.com/office/drawing/2014/main" id="{228133FA-015D-423F-969D-357BC303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161544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vp-note">
            <a:extLst xmlns:a="http://schemas.openxmlformats.org/drawingml/2006/main">
              <a:ext uri="{FF2B5EF4-FFF2-40B4-BE49-F238E27FC236}">
                <a16:creationId xmlns:a16="http://schemas.microsoft.com/office/drawing/2014/main" id="{B3E01494-B60D-4403-9923-0791088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01150"/>
            <a:ext cx="10039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小红书增长是第一条业务线：从目标、选题、内容、审核、采集、复盘开始。</a:t>
            </a:r>
          </a:p>
        </p:txBody>
      </p:sp>
    </p:spTree>
    <p:extLst>
      <p:ext uri="{BB962C8B-B14F-4D97-AF65-F5344CB8AC3E}">
        <p14:creationId xmlns:p14="http://schemas.microsoft.com/office/powerpoint/2010/main" val="12018789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4AD448A-9541-4ABF-B043-2623A416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F7F4EE"/>
            </a:solidFill>
            <a:prstDash val="solid"/>
          </a:ln>
        </p:spPr>
      </p:sp>
      <p:sp>
        <p:nvSpPr>
          <p:cNvPr id="2" name="accent-band">
            <a:extLst xmlns:a="http://schemas.openxmlformats.org/drawingml/2006/main">
              <a:ext uri="{FF2B5EF4-FFF2-40B4-BE49-F238E27FC236}">
                <a16:creationId xmlns:a16="http://schemas.microsoft.com/office/drawing/2014/main" id="{389F1A3D-65A9-48F9-BBE3-C6D0E3B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85065D-3F53-44A2-8A4C-B4766A58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0100"/>
            <a:ext cx="3238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2033"/>
                </a:solidFill>
              </a:defRPr>
            </a:pPr>
            <a:r>
              <a:rPr sz="5100" b="1">
                <a:solidFill>
                  <a:srgbClr val="172033"/>
                </a:solidFill>
              </a:rPr>
              <a:t>现在的决定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BB8DD3-33A8-4947-825A-BF6169D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561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B667A"/>
                </a:solidFill>
              </a:defRPr>
            </a:pPr>
            <a:r>
              <a:rPr sz="2325">
                <a:solidFill>
                  <a:srgbClr val="5B667A"/>
                </a:solidFill>
              </a:rPr>
              <a:t>先做一个小而完整的系统，不做空泛平台。</a:t>
            </a:r>
          </a:p>
        </p:txBody>
      </p:sp>
      <p:sp>
        <p:nvSpPr>
          <p:cNvPr id="5" name="decision-top-space">
            <a:extLst xmlns:a="http://schemas.openxmlformats.org/drawingml/2006/main">
              <a:ext uri="{FF2B5EF4-FFF2-40B4-BE49-F238E27FC236}">
                <a16:creationId xmlns:a16="http://schemas.microsoft.com/office/drawing/2014/main" id="{B1392158-8992-49B0-84FE-17F8696D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6154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decision">
            <a:extLst xmlns:a="http://schemas.openxmlformats.org/drawingml/2006/main">
              <a:ext uri="{FF2B5EF4-FFF2-40B4-BE49-F238E27FC236}">
                <a16:creationId xmlns:a16="http://schemas.microsoft.com/office/drawing/2014/main" id="{8FB0896C-3F8C-4273-A80C-B3451F94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2668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72033"/>
                </a:solidFill>
              </a:defRPr>
            </a:pPr>
            <a:r>
              <a:rPr sz="3600" b="1">
                <a:solidFill>
                  <a:srgbClr val="172033"/>
                </a:solidFill>
              </a:rPr>
              <a:t>路线：自建 DigitalAgent Core，参考 Edict 的协作思想，通过 OpenClaw 插件执行外部动作。</a:t>
            </a:r>
          </a:p>
        </p:txBody>
      </p:sp>
      <p:sp>
        <p:nvSpPr>
          <p:cNvPr id="7" name="decision-rule">
            <a:extLst xmlns:a="http://schemas.openxmlformats.org/drawingml/2006/main">
              <a:ext uri="{FF2B5EF4-FFF2-40B4-BE49-F238E27FC236}">
                <a16:creationId xmlns:a16="http://schemas.microsoft.com/office/drawing/2014/main" id="{83D74BF7-A8BA-4540-B39E-E6D2FE39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769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7A"/>
          </a:solidFill>
          <a:ln xmlns:a="http://schemas.openxmlformats.org/drawingml/2006/main" w="0">
            <a:solidFill>
              <a:srgbClr val="1B8A7A"/>
            </a:solidFill>
            <a:prstDash val="solid"/>
          </a:ln>
        </p:spPr>
      </p:sp>
      <p:sp>
        <p:nvSpPr>
          <p:cNvPr id="8" name="next-step">
            <a:extLst xmlns:a="http://schemas.openxmlformats.org/drawingml/2006/main">
              <a:ext uri="{FF2B5EF4-FFF2-40B4-BE49-F238E27FC236}">
                <a16:creationId xmlns:a16="http://schemas.microsoft.com/office/drawing/2014/main" id="{4BB18093-70EE-4DEB-9D07-00072933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57950"/>
            <a:ext cx="11430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B667A"/>
                </a:solidFill>
              </a:defRPr>
            </a:pPr>
            <a:r>
              <a:rPr sz="2400">
                <a:solidFill>
                  <a:srgbClr val="5B667A"/>
                </a:solidFill>
              </a:rPr>
              <a:t>下一步：写 Mission / Team / Agent Runtime 的简版设计文档，然后进入 MVP 实现。</a:t>
            </a:r>
          </a:p>
        </p:txBody>
      </p:sp>
      <p:sp>
        <p:nvSpPr>
          <p:cNvPr id="9" name="decision-bottom-space">
            <a:extLst xmlns:a="http://schemas.openxmlformats.org/drawingml/2006/main">
              <a:ext uri="{FF2B5EF4-FFF2-40B4-BE49-F238E27FC236}">
                <a16:creationId xmlns:a16="http://schemas.microsoft.com/office/drawing/2014/main" id="{0C07968B-8074-4E69-95FE-3381266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91400"/>
            <a:ext cx="16154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9967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2026-04-27T03:44:21.7260000Z</dcterms:created>
  <dcterms:modified xsi:type="dcterms:W3CDTF">2026-04-27T03:44:21.7260000Z</dcterms:modified>
</coreProperties>
</file>